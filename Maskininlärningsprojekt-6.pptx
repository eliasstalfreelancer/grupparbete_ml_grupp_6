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64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-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/>
              <a:t>Klicka här för att ändra mall för underrubrikformat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007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16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81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8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380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77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1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99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77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14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ch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90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eskriv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sv-SE"/>
              <a:t>Klicka här för att ändra format på bakgrundstexten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9950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n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549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70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47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978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12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5690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7AD4ECE-3038-C876-FF6B-DD5E146F2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3200" b="1" dirty="0">
                <a:solidFill>
                  <a:schemeClr val="tx1"/>
                </a:solidFill>
              </a:rPr>
              <a:t>Företaget, problemet &amp; kravkort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5F9081E-2335-2C8B-451A-0DBD55245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/>
              <a:t>	Maja jobbar med att upptäcka misstänkta 	händelser på en marknadsplats. Problemet: För 	många misstänkta fall missas (</a:t>
            </a:r>
            <a:r>
              <a:rPr lang="sv-SE" dirty="0" err="1"/>
              <a:t>False</a:t>
            </a:r>
            <a:r>
              <a:rPr lang="sv-SE" dirty="0"/>
              <a:t> Negatives).</a:t>
            </a:r>
          </a:p>
          <a:p>
            <a:endParaRPr lang="sv-SE" b="1" dirty="0"/>
          </a:p>
          <a:p>
            <a:pPr marL="0" indent="0">
              <a:buNone/>
            </a:pPr>
            <a:r>
              <a:rPr lang="sv-SE" b="1" dirty="0"/>
              <a:t>	Kravkort (prioriteringar)</a:t>
            </a:r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sv-SE" b="1" dirty="0"/>
              <a:t>Hög </a:t>
            </a:r>
            <a:r>
              <a:rPr lang="sv-SE" b="1" dirty="0" err="1"/>
              <a:t>recall</a:t>
            </a:r>
            <a:r>
              <a:rPr lang="sv-SE" dirty="0"/>
              <a:t> – viktigast</a:t>
            </a:r>
          </a:p>
          <a:p>
            <a:pPr marL="457200" indent="-457200">
              <a:buFont typeface="+mj-lt"/>
              <a:buAutoNum type="arabicPeriod"/>
            </a:pPr>
            <a:r>
              <a:rPr lang="sv-SE" b="1" dirty="0" err="1"/>
              <a:t>Förklarbar</a:t>
            </a:r>
            <a:r>
              <a:rPr lang="sv-SE" b="1" dirty="0"/>
              <a:t> modell</a:t>
            </a:r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sv-SE" b="1" dirty="0"/>
              <a:t>Stabil och pålitlig lösning</a:t>
            </a:r>
            <a:endParaRPr lang="sv-SE" dirty="0"/>
          </a:p>
          <a:p>
            <a:pPr marL="0" indent="0">
              <a:buNone/>
            </a:pPr>
            <a:endParaRPr lang="sv-SE" dirty="0"/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7FFE87A2-9C2A-CB1A-1C23-594695778169}"/>
              </a:ext>
            </a:extLst>
          </p:cNvPr>
          <p:cNvSpPr txBox="1"/>
          <p:nvPr/>
        </p:nvSpPr>
        <p:spPr>
          <a:xfrm>
            <a:off x="1655064" y="3130034"/>
            <a:ext cx="4992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800" dirty="0"/>
              <a:t>Maskininlärningsprojekt</a:t>
            </a:r>
            <a:endParaRPr lang="sv-SE" dirty="0"/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01EF5A83-FEB2-C55D-E8B9-765D6B4B5E31}"/>
              </a:ext>
            </a:extLst>
          </p:cNvPr>
          <p:cNvSpPr txBox="1"/>
          <p:nvPr/>
        </p:nvSpPr>
        <p:spPr>
          <a:xfrm>
            <a:off x="7591245" y="287547"/>
            <a:ext cx="1311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Emmad</a:t>
            </a:r>
            <a:endParaRPr lang="sv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075687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07211FD-DD9A-CC95-FE94-2D1D7B46D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3200" b="1" dirty="0">
                <a:solidFill>
                  <a:schemeClr val="tx1"/>
                </a:solidFill>
              </a:rPr>
              <a:t>Data-insikter (EDA)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0624CAE-D049-6017-574C-BA688A01B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524" y="1047085"/>
            <a:ext cx="7055380" cy="5609747"/>
          </a:xfrm>
        </p:spPr>
        <p:txBody>
          <a:bodyPr>
            <a:normAutofit lnSpcReduction="10000"/>
          </a:bodyPr>
          <a:lstStyle/>
          <a:p>
            <a:r>
              <a:rPr lang="sv-SE" b="1" dirty="0" err="1"/>
              <a:t>Dataset</a:t>
            </a:r>
            <a:endParaRPr lang="sv-SE" b="1" dirty="0"/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12 000 rader, 18 kolumner</a:t>
            </a:r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Target: </a:t>
            </a:r>
            <a:r>
              <a:rPr lang="sv-SE" i="1" dirty="0" err="1"/>
              <a:t>is_suspicious</a:t>
            </a:r>
            <a:r>
              <a:rPr lang="sv-SE" dirty="0"/>
              <a:t> (1 = misstänkt)</a:t>
            </a:r>
          </a:p>
          <a:p>
            <a:pPr marL="0" indent="0">
              <a:buNone/>
            </a:pPr>
            <a:endParaRPr lang="sv-SE" dirty="0"/>
          </a:p>
          <a:p>
            <a:r>
              <a:rPr lang="sv-SE" b="1" dirty="0"/>
              <a:t>Klassfördelning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89.8% inte misstänkta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10.2% misstänkta → Obalanserad data → </a:t>
            </a:r>
            <a:r>
              <a:rPr lang="sv-SE" dirty="0" err="1"/>
              <a:t>recall</a:t>
            </a:r>
            <a:r>
              <a:rPr lang="sv-SE" dirty="0"/>
              <a:t> är viktigast</a:t>
            </a:r>
          </a:p>
          <a:p>
            <a:pPr marL="457200" indent="-457200">
              <a:buFont typeface="+mj-lt"/>
              <a:buAutoNum type="arabicPeriod"/>
            </a:pPr>
            <a:endParaRPr lang="sv-SE" dirty="0"/>
          </a:p>
          <a:p>
            <a:r>
              <a:rPr lang="sv-SE" b="1" dirty="0"/>
              <a:t>Viktiga observationer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 err="1"/>
              <a:t>contains_off_platform</a:t>
            </a:r>
            <a:r>
              <a:rPr lang="sv-SE" dirty="0"/>
              <a:t> och prev_reports_30d har starkast samband med misstänkt beteende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Saknade värden i </a:t>
            </a:r>
            <a:r>
              <a:rPr lang="sv-SE" dirty="0" err="1"/>
              <a:t>price</a:t>
            </a:r>
            <a:r>
              <a:rPr lang="sv-SE" dirty="0"/>
              <a:t>, region och </a:t>
            </a:r>
            <a:r>
              <a:rPr lang="sv-SE" dirty="0" err="1"/>
              <a:t>time_to_first_response_min</a:t>
            </a:r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Fler tidigare rapporter → högre risk</a:t>
            </a:r>
          </a:p>
          <a:p>
            <a:pPr marL="0" indent="0">
              <a:buNone/>
            </a:pPr>
            <a:endParaRPr lang="sv-SE" dirty="0"/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722578F2-A1C9-7A5A-7AA2-C045D3551EE6}"/>
              </a:ext>
            </a:extLst>
          </p:cNvPr>
          <p:cNvSpPr txBox="1"/>
          <p:nvPr/>
        </p:nvSpPr>
        <p:spPr>
          <a:xfrm>
            <a:off x="7591245" y="287547"/>
            <a:ext cx="131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Milda</a:t>
            </a:r>
          </a:p>
        </p:txBody>
      </p:sp>
    </p:spTree>
    <p:extLst>
      <p:ext uri="{BB962C8B-B14F-4D97-AF65-F5344CB8AC3E}">
        <p14:creationId xmlns:p14="http://schemas.microsoft.com/office/powerpoint/2010/main" val="1327713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09E6B30-617C-44D5-9333-F6039779B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3200" b="1" dirty="0">
                <a:solidFill>
                  <a:schemeClr val="tx1"/>
                </a:solidFill>
              </a:rPr>
              <a:t>Pipeline</a:t>
            </a:r>
            <a:r>
              <a:rPr lang="sv-SE" dirty="0"/>
              <a:t> </a:t>
            </a:r>
            <a:r>
              <a:rPr lang="sv-SE" sz="3200" b="1" dirty="0">
                <a:solidFill>
                  <a:schemeClr val="tx1"/>
                </a:solidFill>
              </a:rPr>
              <a:t>&amp; utvärdering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1F23FDF-5E12-7495-64B0-DCAA50911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0" y="1467709"/>
            <a:ext cx="6711654" cy="4195481"/>
          </a:xfrm>
        </p:spPr>
        <p:txBody>
          <a:bodyPr/>
          <a:lstStyle/>
          <a:p>
            <a:endParaRPr lang="sv-SE" dirty="0"/>
          </a:p>
          <a:p>
            <a:r>
              <a:rPr lang="sv-SE" b="1" dirty="0"/>
              <a:t>Pipeline</a:t>
            </a:r>
            <a:r>
              <a:rPr lang="sv-SE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Numeriskt: median-</a:t>
            </a:r>
            <a:r>
              <a:rPr lang="sv-SE" dirty="0" err="1"/>
              <a:t>imputering</a:t>
            </a:r>
            <a:r>
              <a:rPr lang="sv-SE" dirty="0"/>
              <a:t> + </a:t>
            </a:r>
            <a:r>
              <a:rPr lang="sv-SE" dirty="0" err="1"/>
              <a:t>StandardScaler</a:t>
            </a:r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Kategoriskt: </a:t>
            </a:r>
            <a:r>
              <a:rPr lang="sv-SE" dirty="0" err="1"/>
              <a:t>most_frequent</a:t>
            </a:r>
            <a:r>
              <a:rPr lang="sv-SE" dirty="0"/>
              <a:t> + </a:t>
            </a:r>
            <a:r>
              <a:rPr lang="sv-SE" dirty="0" err="1"/>
              <a:t>OneHotEncoder</a:t>
            </a:r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Undviker </a:t>
            </a:r>
            <a:r>
              <a:rPr lang="sv-SE" dirty="0" err="1"/>
              <a:t>leakage</a:t>
            </a:r>
            <a:r>
              <a:rPr lang="sv-SE" dirty="0"/>
              <a:t> genom att all </a:t>
            </a:r>
            <a:r>
              <a:rPr lang="sv-SE" dirty="0" err="1"/>
              <a:t>preprocessing</a:t>
            </a:r>
            <a:r>
              <a:rPr lang="sv-SE" dirty="0"/>
              <a:t> sker inne i pipeline och Cross-</a:t>
            </a:r>
            <a:r>
              <a:rPr lang="sv-SE" dirty="0" err="1"/>
              <a:t>validation</a:t>
            </a:r>
            <a:r>
              <a:rPr lang="sv-SE" dirty="0"/>
              <a:t> endast på </a:t>
            </a:r>
            <a:r>
              <a:rPr lang="sv-SE" dirty="0" err="1"/>
              <a:t>train</a:t>
            </a:r>
            <a:r>
              <a:rPr lang="sv-SE" dirty="0"/>
              <a:t> data</a:t>
            </a:r>
          </a:p>
          <a:p>
            <a:r>
              <a:rPr lang="sv-SE" b="1" dirty="0"/>
              <a:t>Utvärdering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 err="1"/>
              <a:t>Stratified</a:t>
            </a:r>
            <a:r>
              <a:rPr lang="sv-SE" dirty="0"/>
              <a:t> 5‑fold K-</a:t>
            </a:r>
            <a:r>
              <a:rPr lang="sv-SE" dirty="0" err="1"/>
              <a:t>fold</a:t>
            </a:r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Metriker: </a:t>
            </a:r>
            <a:r>
              <a:rPr lang="sv-SE" dirty="0" err="1"/>
              <a:t>Recall</a:t>
            </a:r>
            <a:r>
              <a:rPr lang="sv-SE" dirty="0"/>
              <a:t> (primär), ROC‑AUC, Precision</a:t>
            </a:r>
          </a:p>
          <a:p>
            <a:pPr marL="0" indent="0">
              <a:buNone/>
            </a:pPr>
            <a:endParaRPr lang="sv-SE" dirty="0"/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8E5E779E-959A-CD9C-492D-7C036BB8C073}"/>
              </a:ext>
            </a:extLst>
          </p:cNvPr>
          <p:cNvSpPr txBox="1"/>
          <p:nvPr/>
        </p:nvSpPr>
        <p:spPr>
          <a:xfrm>
            <a:off x="7591245" y="287547"/>
            <a:ext cx="131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Elias</a:t>
            </a:r>
          </a:p>
        </p:txBody>
      </p:sp>
    </p:spTree>
    <p:extLst>
      <p:ext uri="{BB962C8B-B14F-4D97-AF65-F5344CB8AC3E}">
        <p14:creationId xmlns:p14="http://schemas.microsoft.com/office/powerpoint/2010/main" val="1125254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97C11EF-F308-44A6-5252-22BFFD8C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64" y="13806"/>
            <a:ext cx="7055380" cy="1400530"/>
          </a:xfrm>
        </p:spPr>
        <p:txBody>
          <a:bodyPr/>
          <a:lstStyle/>
          <a:p>
            <a:r>
              <a:rPr lang="sv-SE" sz="3200" b="1" dirty="0">
                <a:solidFill>
                  <a:schemeClr val="tx1"/>
                </a:solidFill>
              </a:rPr>
              <a:t>Modelljämförelse</a:t>
            </a:r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2ABBB450-6BC5-7D9C-8E91-CBECB22E37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433" y="714071"/>
            <a:ext cx="7236041" cy="2801048"/>
          </a:xfrm>
          <a:prstGeom prst="rect">
            <a:avLst/>
          </a:prstGeom>
        </p:spPr>
      </p:pic>
      <p:sp>
        <p:nvSpPr>
          <p:cNvPr id="6" name="textruta 5">
            <a:extLst>
              <a:ext uri="{FF2B5EF4-FFF2-40B4-BE49-F238E27FC236}">
                <a16:creationId xmlns:a16="http://schemas.microsoft.com/office/drawing/2014/main" id="{182A6E18-E347-9D4B-43DF-2E4BD1EAFE0D}"/>
              </a:ext>
            </a:extLst>
          </p:cNvPr>
          <p:cNvSpPr txBox="1"/>
          <p:nvPr/>
        </p:nvSpPr>
        <p:spPr>
          <a:xfrm>
            <a:off x="384048" y="3542551"/>
            <a:ext cx="875995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000" b="1" dirty="0">
                <a:latin typeface="+mj-lt"/>
                <a:ea typeface="+mj-ea"/>
                <a:cs typeface="+mj-cs"/>
              </a:rPr>
              <a:t>Vi jämförde tre modeller</a:t>
            </a:r>
            <a:r>
              <a:rPr lang="sv-SE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sv-SE" dirty="0" err="1"/>
              <a:t>Baseline</a:t>
            </a:r>
            <a:endParaRPr lang="sv-SE" dirty="0"/>
          </a:p>
          <a:p>
            <a:pPr marL="342900" indent="-342900">
              <a:buFont typeface="+mj-lt"/>
              <a:buAutoNum type="arabicPeriod"/>
            </a:pPr>
            <a:r>
              <a:rPr lang="sv-SE" dirty="0" err="1"/>
              <a:t>Logistic</a:t>
            </a:r>
            <a:r>
              <a:rPr lang="sv-SE" dirty="0"/>
              <a:t> Regression</a:t>
            </a:r>
          </a:p>
          <a:p>
            <a:pPr marL="342900" indent="-342900">
              <a:buFont typeface="+mj-lt"/>
              <a:buAutoNum type="arabicPeriod"/>
            </a:pPr>
            <a:r>
              <a:rPr lang="sv-SE" dirty="0" err="1"/>
              <a:t>Random</a:t>
            </a:r>
            <a:r>
              <a:rPr lang="sv-SE" dirty="0"/>
              <a:t> Forest</a:t>
            </a:r>
          </a:p>
          <a:p>
            <a:endParaRPr lang="sv-SE" dirty="0"/>
          </a:p>
          <a:p>
            <a:r>
              <a:rPr lang="sv-SE" sz="2000" b="1" dirty="0">
                <a:latin typeface="+mj-lt"/>
                <a:ea typeface="+mj-ea"/>
                <a:cs typeface="+mj-cs"/>
              </a:rPr>
              <a:t>Resultatet blev tydligt:</a:t>
            </a:r>
          </a:p>
          <a:p>
            <a:r>
              <a:rPr lang="sv-SE" dirty="0" err="1"/>
              <a:t>Logistic</a:t>
            </a:r>
            <a:r>
              <a:rPr lang="sv-SE" dirty="0"/>
              <a:t> Regression hade </a:t>
            </a:r>
            <a:r>
              <a:rPr lang="sv-SE" b="1" dirty="0"/>
              <a:t>högst </a:t>
            </a:r>
            <a:r>
              <a:rPr lang="sv-SE" b="1" dirty="0" err="1"/>
              <a:t>recall</a:t>
            </a:r>
            <a:r>
              <a:rPr lang="sv-SE" b="1" dirty="0"/>
              <a:t>: 0.6517</a:t>
            </a:r>
            <a:endParaRPr lang="sv-SE" dirty="0"/>
          </a:p>
          <a:p>
            <a:r>
              <a:rPr lang="sv-SE" dirty="0" err="1"/>
              <a:t>Random</a:t>
            </a:r>
            <a:r>
              <a:rPr lang="sv-SE" dirty="0"/>
              <a:t> Forest låg mycket lägre på </a:t>
            </a:r>
            <a:r>
              <a:rPr lang="sv-SE" dirty="0" err="1"/>
              <a:t>recall</a:t>
            </a:r>
            <a:endParaRPr lang="sv-SE" dirty="0"/>
          </a:p>
          <a:p>
            <a:r>
              <a:rPr lang="sv-SE" dirty="0" err="1"/>
              <a:t>Baseline</a:t>
            </a:r>
            <a:r>
              <a:rPr lang="sv-SE" dirty="0"/>
              <a:t> fångade ingenting</a:t>
            </a:r>
          </a:p>
          <a:p>
            <a:r>
              <a:rPr lang="sv-SE" dirty="0"/>
              <a:t>Eftersom </a:t>
            </a:r>
            <a:r>
              <a:rPr lang="sv-SE" dirty="0" err="1"/>
              <a:t>recall</a:t>
            </a:r>
            <a:r>
              <a:rPr lang="sv-SE" dirty="0"/>
              <a:t> är viktigast för Maja blev </a:t>
            </a:r>
            <a:r>
              <a:rPr lang="sv-SE" dirty="0" err="1"/>
              <a:t>Logistic</a:t>
            </a:r>
            <a:r>
              <a:rPr lang="sv-SE" dirty="0"/>
              <a:t> Regression den bästa kandidaten</a:t>
            </a:r>
          </a:p>
        </p:txBody>
      </p:sp>
      <p:sp>
        <p:nvSpPr>
          <p:cNvPr id="3" name="textruta 2">
            <a:extLst>
              <a:ext uri="{FF2B5EF4-FFF2-40B4-BE49-F238E27FC236}">
                <a16:creationId xmlns:a16="http://schemas.microsoft.com/office/drawing/2014/main" id="{B8B28DEF-A839-6B1C-EDA0-CD54FC1B77C8}"/>
              </a:ext>
            </a:extLst>
          </p:cNvPr>
          <p:cNvSpPr txBox="1"/>
          <p:nvPr/>
        </p:nvSpPr>
        <p:spPr>
          <a:xfrm>
            <a:off x="7591245" y="287547"/>
            <a:ext cx="1311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Azar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9931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7E3217D-50C9-5731-88BF-8972DDA00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3200" b="1" dirty="0">
                <a:solidFill>
                  <a:schemeClr val="tx1"/>
                </a:solidFill>
              </a:rPr>
              <a:t>Vald</a:t>
            </a:r>
            <a:r>
              <a:rPr lang="sv-SE" dirty="0"/>
              <a:t> </a:t>
            </a:r>
            <a:r>
              <a:rPr lang="sv-SE" sz="3200" b="1" dirty="0">
                <a:solidFill>
                  <a:schemeClr val="tx1"/>
                </a:solidFill>
              </a:rPr>
              <a:t>modell + </a:t>
            </a:r>
            <a:r>
              <a:rPr lang="sv-SE" sz="3200" b="1" dirty="0" err="1">
                <a:solidFill>
                  <a:schemeClr val="tx1"/>
                </a:solidFill>
              </a:rPr>
              <a:t>tuning</a:t>
            </a:r>
            <a:endParaRPr lang="sv-SE" sz="3200" b="1" dirty="0">
              <a:solidFill>
                <a:schemeClr val="tx1"/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631B320-A1AD-95A4-68A1-F998E01D3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00" y="2052925"/>
            <a:ext cx="7310460" cy="4195481"/>
          </a:xfrm>
        </p:spPr>
        <p:txBody>
          <a:bodyPr/>
          <a:lstStyle/>
          <a:p>
            <a:r>
              <a:rPr lang="sv-SE" b="1" dirty="0"/>
              <a:t>Optimering </a:t>
            </a:r>
          </a:p>
          <a:p>
            <a:pPr marL="0" indent="0">
              <a:buNone/>
            </a:pPr>
            <a:r>
              <a:rPr lang="sv-SE" dirty="0"/>
              <a:t>Vi optimerade </a:t>
            </a:r>
            <a:r>
              <a:rPr lang="sv-SE" dirty="0" err="1"/>
              <a:t>Logistic</a:t>
            </a:r>
            <a:r>
              <a:rPr lang="sv-SE" dirty="0"/>
              <a:t> Regression med </a:t>
            </a:r>
            <a:r>
              <a:rPr lang="sv-SE" dirty="0" err="1"/>
              <a:t>GridSearchCV</a:t>
            </a:r>
            <a:r>
              <a:rPr lang="sv-SE" dirty="0"/>
              <a:t>. Vi testade olika C‑värden och optimerade för </a:t>
            </a:r>
            <a:r>
              <a:rPr lang="sv-SE" dirty="0" err="1"/>
              <a:t>recall</a:t>
            </a:r>
            <a:r>
              <a:rPr lang="sv-SE" dirty="0"/>
              <a:t>.</a:t>
            </a:r>
          </a:p>
          <a:p>
            <a:pPr marL="0" indent="0">
              <a:buNone/>
            </a:pPr>
            <a:r>
              <a:rPr lang="sv-SE" dirty="0"/>
              <a:t> Det bästa värdet blev </a:t>
            </a:r>
            <a:r>
              <a:rPr lang="sv-SE" b="1" dirty="0"/>
              <a:t>C = 0.3</a:t>
            </a:r>
            <a:r>
              <a:rPr lang="sv-SE" dirty="0"/>
              <a:t>.</a:t>
            </a:r>
          </a:p>
          <a:p>
            <a:pPr marL="0" indent="0">
              <a:buNone/>
            </a:pPr>
            <a:r>
              <a:rPr lang="sv-SE" dirty="0"/>
              <a:t> Ett lägre C‑värde innebär starkare regularisering,    vilket gör modellen mer stabil och minskar risken för  överanpassning. Det passar Majas krav: hellre flagga  ett extra fall än missa en bedragare.</a:t>
            </a:r>
          </a:p>
          <a:p>
            <a:pPr marL="0" indent="0">
              <a:buNone/>
            </a:pPr>
            <a:endParaRPr lang="sv-SE" dirty="0"/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47DF4C55-3F8A-5904-B8FD-E42097040719}"/>
              </a:ext>
            </a:extLst>
          </p:cNvPr>
          <p:cNvSpPr txBox="1"/>
          <p:nvPr/>
        </p:nvSpPr>
        <p:spPr>
          <a:xfrm>
            <a:off x="7591245" y="287547"/>
            <a:ext cx="1311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Ben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01163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0F0AEA7-6B57-8FFF-7D02-E752CD786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3200" b="1" dirty="0" err="1">
                <a:solidFill>
                  <a:schemeClr val="tx1"/>
                </a:solidFill>
              </a:rPr>
              <a:t>Threshold</a:t>
            </a:r>
            <a:r>
              <a:rPr lang="sv-SE" sz="3200" b="1" dirty="0">
                <a:solidFill>
                  <a:schemeClr val="tx1"/>
                </a:solidFill>
              </a:rPr>
              <a:t> &amp; konsekvenser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27E6CE4-B783-D309-2742-3DBF4CC93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v-SE" b="1" dirty="0"/>
              <a:t>Top-X prioritering </a:t>
            </a:r>
          </a:p>
          <a:p>
            <a:pPr marL="0" indent="0">
              <a:buNone/>
            </a:pPr>
            <a:r>
              <a:rPr lang="sv-SE" dirty="0"/>
              <a:t>	Flaggar de </a:t>
            </a:r>
            <a:r>
              <a:rPr lang="sv-SE" b="1" dirty="0"/>
              <a:t>10% mest riskfyllda fallen</a:t>
            </a:r>
          </a:p>
          <a:p>
            <a:pPr marL="0" indent="0">
              <a:buNone/>
            </a:pPr>
            <a:endParaRPr lang="sv-SE" b="1" dirty="0"/>
          </a:p>
          <a:p>
            <a:r>
              <a:rPr lang="sv-SE" b="1" dirty="0" err="1"/>
              <a:t>Trade</a:t>
            </a:r>
            <a:r>
              <a:rPr lang="sv-SE" b="1" dirty="0"/>
              <a:t>-off</a:t>
            </a:r>
          </a:p>
          <a:p>
            <a:pPr marL="457207" lvl="1" indent="0">
              <a:buNone/>
            </a:pPr>
            <a:r>
              <a:rPr lang="sv-SE" dirty="0" err="1"/>
              <a:t>Recall</a:t>
            </a:r>
            <a:r>
              <a:rPr lang="sv-SE" dirty="0"/>
              <a:t> → fler misstänkta fångas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False</a:t>
            </a:r>
            <a:r>
              <a:rPr lang="sv-SE" dirty="0"/>
              <a:t> Negatives → färre farliga missas</a:t>
            </a:r>
          </a:p>
          <a:p>
            <a:pPr marL="0" indent="0">
              <a:buNone/>
            </a:pPr>
            <a:r>
              <a:rPr lang="sv-SE" dirty="0"/>
              <a:t>	</a:t>
            </a:r>
            <a:r>
              <a:rPr lang="sv-SE" dirty="0" err="1"/>
              <a:t>False</a:t>
            </a:r>
            <a:r>
              <a:rPr lang="sv-SE" dirty="0"/>
              <a:t> Positives → fler onödiga granskningar</a:t>
            </a:r>
          </a:p>
          <a:p>
            <a:pPr marL="0" indent="0">
              <a:buNone/>
            </a:pPr>
            <a:endParaRPr lang="sv-SE" dirty="0"/>
          </a:p>
          <a:p>
            <a:r>
              <a:rPr lang="sv-SE" b="1" dirty="0"/>
              <a:t>Konsekvens</a:t>
            </a:r>
          </a:p>
          <a:p>
            <a:pPr marL="0" indent="0">
              <a:buNone/>
            </a:pPr>
            <a:r>
              <a:rPr lang="sv-SE" dirty="0"/>
              <a:t>	Om vi missar ett farligt fall → användare kan bli 	lurad (ekonomisk + förtroendeskada)</a:t>
            </a: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EDFA3157-D7E1-8B8E-2891-53F8EE222FAD}"/>
              </a:ext>
            </a:extLst>
          </p:cNvPr>
          <p:cNvSpPr txBox="1"/>
          <p:nvPr/>
        </p:nvSpPr>
        <p:spPr>
          <a:xfrm>
            <a:off x="7591245" y="287547"/>
            <a:ext cx="1311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Ida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6870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C176940-D0B0-9DC6-3DED-D39DCCE00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Prediktion på ny data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418853-1E81-28FC-A1E5-032A8B1AEA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4710" y="1428719"/>
            <a:ext cx="468589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sv-SE" sz="1800" dirty="0"/>
              <a:t>Prioritering</a:t>
            </a:r>
            <a:endParaRPr lang="sv-SE" sz="1800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sv-SE" altLang="sv-S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Strategi: </a:t>
            </a:r>
            <a:r>
              <a:rPr kumimoji="0" lang="sv-SE" altLang="sv-SE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</a:t>
            </a:r>
            <a:r>
              <a:rPr kumimoji="0" lang="sv-SE" altLang="sv-S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10% (Top-X)</a:t>
            </a:r>
            <a:endParaRPr lang="sv-SE" altLang="sv-SE" sz="1400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sv-SE" altLang="sv-S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Alla fall rangordnas efter risk (</a:t>
            </a:r>
            <a:r>
              <a:rPr lang="sv-SE" altLang="sv-SE" sz="1400" dirty="0" err="1">
                <a:latin typeface="Arial" panose="020B0604020202020204" pitchFamily="34" charset="0"/>
              </a:rPr>
              <a:t>p</a:t>
            </a:r>
            <a:r>
              <a:rPr kumimoji="0" lang="sv-SE" altLang="sv-S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redict_proba</a:t>
            </a:r>
            <a:r>
              <a:rPr kumimoji="0" lang="sv-SE" altLang="sv-S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sv-SE" altLang="sv-S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 </a:t>
            </a:r>
            <a:r>
              <a:rPr kumimoji="0" lang="sv-SE" altLang="sv-S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10% mest riskfyllda</a:t>
            </a:r>
            <a:r>
              <a:rPr kumimoji="0" lang="sv-SE" altLang="sv-S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flaggas för granskning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75313D5-54F1-A2AA-B9B0-84B740E5A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710" y="2554575"/>
            <a:ext cx="3672800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sv-SE" sz="1800" dirty="0"/>
              <a:t>Resultat</a:t>
            </a:r>
            <a:endParaRPr lang="sv-SE" sz="1800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sv-SE" altLang="sv-SE" sz="1400" dirty="0">
                <a:latin typeface="Arial" panose="020B0604020202020204" pitchFamily="34" charset="0"/>
              </a:rPr>
              <a:t>Totalt antal fall: 2000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sv-SE" sz="1400" dirty="0">
                <a:latin typeface="Arial" panose="020B0604020202020204" pitchFamily="34" charset="0"/>
                <a:cs typeface="Arial" panose="020B0604020202020204" pitchFamily="34" charset="0"/>
              </a:rPr>
              <a:t>Antal flaggade: </a:t>
            </a:r>
            <a:r>
              <a:rPr lang="sv-SE" sz="1400" b="1" dirty="0">
                <a:latin typeface="Arial" panose="020B0604020202020204" pitchFamily="34" charset="0"/>
                <a:cs typeface="Arial" panose="020B0604020202020204" pitchFamily="34" charset="0"/>
              </a:rPr>
              <a:t>200 (10%)</a:t>
            </a:r>
            <a:endParaRPr lang="sv-SE" altLang="sv-S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sv-SE" altLang="sv-SE" sz="1400" dirty="0">
                <a:latin typeface="Arial" panose="020B0604020202020204" pitchFamily="34" charset="0"/>
              </a:rPr>
              <a:t>Risk score: max </a:t>
            </a:r>
            <a:r>
              <a:rPr lang="sv-SE" sz="1400" dirty="0"/>
              <a:t>~</a:t>
            </a:r>
            <a:r>
              <a:rPr lang="sv-SE" sz="1400" dirty="0">
                <a:latin typeface="Arial" panose="020B0604020202020204" pitchFamily="34" charset="0"/>
                <a:cs typeface="Arial" panose="020B0604020202020204" pitchFamily="34" charset="0"/>
              </a:rPr>
              <a:t>97% min 0.04 %</a:t>
            </a:r>
            <a:br>
              <a:rPr lang="sv-SE" altLang="sv-SE" sz="1400" dirty="0">
                <a:latin typeface="Arial" panose="020B0604020202020204" pitchFamily="34" charset="0"/>
              </a:rPr>
            </a:br>
            <a:endParaRPr lang="sv-SE" altLang="sv-SE" sz="1400" dirty="0"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BF9296C-81E3-2EDC-BB04-7161044CE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710" y="3895874"/>
            <a:ext cx="775084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sv-SE" sz="1800" dirty="0"/>
              <a:t>Reflektion</a:t>
            </a:r>
            <a:endParaRPr lang="sv-SE" sz="1800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sv-SE" sz="1400" dirty="0"/>
              <a:t>Strategin säkerställer att de mest riskfyllda fallen alltid prioriteras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sv-SE" sz="1400" dirty="0"/>
              <a:t>Vi accepterar fler </a:t>
            </a:r>
            <a:r>
              <a:rPr lang="sv-SE" sz="1400" dirty="0" err="1"/>
              <a:t>false</a:t>
            </a:r>
            <a:r>
              <a:rPr lang="sv-SE" sz="1400" dirty="0"/>
              <a:t> positives för att minimera risken att missa farliga fall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sv-SE" sz="1400" dirty="0"/>
              <a:t>Lösningen fungerar som ett </a:t>
            </a:r>
            <a:r>
              <a:rPr lang="sv-SE" sz="1400" b="1" dirty="0"/>
              <a:t>praktiskt prioriteringsverktyg</a:t>
            </a:r>
            <a:r>
              <a:rPr lang="sv-SE" sz="1400" dirty="0"/>
              <a:t>, i linje med Majas krav</a:t>
            </a:r>
            <a:endParaRPr lang="sv-SE" altLang="sv-SE" sz="1400" dirty="0">
              <a:latin typeface="Arial" panose="020B0604020202020204" pitchFamily="34" charset="0"/>
            </a:endParaRPr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7EC32231-5213-A1B9-7271-F816458BEAF2}"/>
              </a:ext>
            </a:extLst>
          </p:cNvPr>
          <p:cNvSpPr txBox="1"/>
          <p:nvPr/>
        </p:nvSpPr>
        <p:spPr>
          <a:xfrm>
            <a:off x="7591245" y="287547"/>
            <a:ext cx="131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Elias</a:t>
            </a:r>
          </a:p>
        </p:txBody>
      </p:sp>
    </p:spTree>
    <p:extLst>
      <p:ext uri="{BB962C8B-B14F-4D97-AF65-F5344CB8AC3E}">
        <p14:creationId xmlns:p14="http://schemas.microsoft.com/office/powerpoint/2010/main" val="1051474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5FBBC7-4E09-0A24-6562-7CC5E6343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1" dirty="0"/>
              <a:t>Risker &amp; nästa steg</a:t>
            </a:r>
            <a:br>
              <a:rPr lang="sv-SE" b="1" dirty="0"/>
            </a:b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8233592-37FF-5258-BAAB-F37882961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62" y="1380066"/>
            <a:ext cx="6711654" cy="1966983"/>
          </a:xfrm>
        </p:spPr>
        <p:txBody>
          <a:bodyPr/>
          <a:lstStyle/>
          <a:p>
            <a:r>
              <a:rPr lang="sv-SE" b="1" dirty="0"/>
              <a:t>Begränsningar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v-SE" dirty="0"/>
              <a:t>Ingen </a:t>
            </a:r>
            <a:r>
              <a:rPr lang="sv-SE" dirty="0" err="1"/>
              <a:t>ground</a:t>
            </a:r>
            <a:r>
              <a:rPr lang="sv-SE" dirty="0"/>
              <a:t> </a:t>
            </a:r>
            <a:r>
              <a:rPr lang="sv-SE" dirty="0" err="1"/>
              <a:t>truth</a:t>
            </a:r>
            <a:r>
              <a:rPr lang="sv-SE" dirty="0"/>
              <a:t> i ny data → svårt att mäta </a:t>
            </a:r>
            <a:r>
              <a:rPr lang="sv-SE" dirty="0" err="1"/>
              <a:t>performance</a:t>
            </a:r>
            <a:endParaRPr lang="sv-SE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sv-SE" dirty="0"/>
              <a:t>Risk för bias från historisk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v-SE" dirty="0" err="1"/>
              <a:t>False</a:t>
            </a:r>
            <a:r>
              <a:rPr lang="sv-SE" dirty="0"/>
              <a:t> positives ökar arbetsbelastning</a:t>
            </a:r>
          </a:p>
        </p:txBody>
      </p:sp>
      <p:sp>
        <p:nvSpPr>
          <p:cNvPr id="4" name="Platshållare för innehåll 2">
            <a:extLst>
              <a:ext uri="{FF2B5EF4-FFF2-40B4-BE49-F238E27FC236}">
                <a16:creationId xmlns:a16="http://schemas.microsoft.com/office/drawing/2014/main" id="{CBFBEA0F-AD3F-CCB6-E67B-92D800D532DE}"/>
              </a:ext>
            </a:extLst>
          </p:cNvPr>
          <p:cNvSpPr txBox="1">
            <a:spLocks/>
          </p:cNvSpPr>
          <p:nvPr/>
        </p:nvSpPr>
        <p:spPr>
          <a:xfrm>
            <a:off x="484710" y="3637311"/>
            <a:ext cx="6711654" cy="1966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sv-SE" b="1" dirty="0"/>
              <a:t>Nästa steg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v-SE" dirty="0"/>
              <a:t>Samla feedback från granskning (</a:t>
            </a:r>
            <a:r>
              <a:rPr lang="sv-SE" dirty="0" err="1"/>
              <a:t>labeling</a:t>
            </a:r>
            <a:r>
              <a:rPr lang="sv-SE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v-SE" dirty="0"/>
              <a:t>Justera </a:t>
            </a:r>
            <a:r>
              <a:rPr lang="sv-SE" dirty="0" err="1"/>
              <a:t>threshold</a:t>
            </a:r>
            <a:r>
              <a:rPr lang="sv-SE" dirty="0"/>
              <a:t> / Top-X dynamiskt</a:t>
            </a:r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A4B56B35-3665-479A-C34A-01350FB79282}"/>
              </a:ext>
            </a:extLst>
          </p:cNvPr>
          <p:cNvSpPr txBox="1"/>
          <p:nvPr/>
        </p:nvSpPr>
        <p:spPr>
          <a:xfrm>
            <a:off x="7591245" y="287547"/>
            <a:ext cx="1311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Elias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550639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1A93854-2484-8A21-B130-78F24B7A7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166" y="629508"/>
            <a:ext cx="7055380" cy="1400530"/>
          </a:xfrm>
        </p:spPr>
        <p:txBody>
          <a:bodyPr/>
          <a:lstStyle/>
          <a:p>
            <a:r>
              <a:rPr lang="sv-SE" sz="4400" b="1" dirty="0"/>
              <a:t>Maskininlärningsprojekt</a:t>
            </a:r>
            <a:endParaRPr lang="sv-SE" b="1" dirty="0"/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50F20CC6-7854-0FE7-48E6-6BFF2DADC4D2}"/>
              </a:ext>
            </a:extLst>
          </p:cNvPr>
          <p:cNvSpPr txBox="1"/>
          <p:nvPr/>
        </p:nvSpPr>
        <p:spPr>
          <a:xfrm>
            <a:off x="530352" y="2103120"/>
            <a:ext cx="7443216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sv-SE" alt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v-SE" sz="3200" b="1" dirty="0"/>
              <a:t>Projektgrupp och ansvarsfördelning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sv-SE" altLang="sv-S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Milda – EDA (</a:t>
            </a:r>
            <a:r>
              <a:rPr kumimoji="0" lang="sv-SE" altLang="sv-S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</a:t>
            </a:r>
            <a:r>
              <a:rPr kumimoji="0" lang="sv-SE" altLang="sv-S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</a:t>
            </a:r>
            <a:r>
              <a:rPr kumimoji="0" lang="sv-SE" altLang="sv-S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</a:t>
            </a:r>
            <a:r>
              <a:rPr kumimoji="0" lang="sv-SE" altLang="sv-S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sv-SE" altLang="sv-S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sv-SE" altLang="sv-S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Elias – Pipeline &amp; </a:t>
            </a:r>
            <a:r>
              <a:rPr kumimoji="0" lang="sv-SE" altLang="sv-S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</a:t>
            </a:r>
            <a:endParaRPr kumimoji="0" lang="sv-SE" altLang="sv-S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sv-SE" altLang="sv-S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Azar – Modelljämförelse</a:t>
            </a:r>
            <a:endParaRPr kumimoji="0" lang="sv-SE" altLang="sv-S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sv-SE" altLang="sv-S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 – Hyperparameter‑</a:t>
            </a:r>
            <a:r>
              <a:rPr kumimoji="0" lang="sv-SE" altLang="sv-S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tuning</a:t>
            </a:r>
            <a:endParaRPr kumimoji="0" lang="sv-SE" altLang="sv-S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sv-SE" altLang="sv-S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Ida – </a:t>
            </a:r>
            <a:r>
              <a:rPr kumimoji="0" lang="sv-SE" altLang="sv-S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Threshold</a:t>
            </a:r>
            <a:r>
              <a:rPr kumimoji="0" lang="sv-SE" altLang="sv-S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‑analys</a:t>
            </a:r>
            <a:endParaRPr kumimoji="0" lang="sv-SE" altLang="sv-S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sv-SE" altLang="sv-S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Emmad – Sammanställning, rapportstruktur &amp; presentation</a:t>
            </a:r>
            <a:endParaRPr kumimoji="0" lang="sv-SE" altLang="sv-S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6681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Jon">
  <a:themeElements>
    <a:clrScheme name="J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J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2048</TotalTime>
  <Words>512</Words>
  <Application>Microsoft Office PowerPoint</Application>
  <PresentationFormat>Bildspel på skärmen (4:3)</PresentationFormat>
  <Paragraphs>95</Paragraphs>
  <Slides>9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Jon</vt:lpstr>
      <vt:lpstr>Företaget, problemet &amp; kravkort</vt:lpstr>
      <vt:lpstr>Data-insikter (EDA)</vt:lpstr>
      <vt:lpstr>Pipeline &amp; utvärdering</vt:lpstr>
      <vt:lpstr>Modelljämförelse</vt:lpstr>
      <vt:lpstr>Vald modell + tuning</vt:lpstr>
      <vt:lpstr>Threshold &amp; konsekvenser</vt:lpstr>
      <vt:lpstr>Prediktion på ny data</vt:lpstr>
      <vt:lpstr>Risker &amp; nästa steg </vt:lpstr>
      <vt:lpstr>Maskininlärningsprojekt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Emmad Alsalam</dc:creator>
  <cp:keywords/>
  <dc:description>generated using python-pptx</dc:description>
  <cp:lastModifiedBy>Elias Stålhjärta</cp:lastModifiedBy>
  <cp:revision>6</cp:revision>
  <dcterms:created xsi:type="dcterms:W3CDTF">2013-01-27T09:14:16Z</dcterms:created>
  <dcterms:modified xsi:type="dcterms:W3CDTF">2026-03-19T07:59:31Z</dcterms:modified>
  <cp:category/>
</cp:coreProperties>
</file>